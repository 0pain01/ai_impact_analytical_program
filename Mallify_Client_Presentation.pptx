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F2E6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24346E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1F2E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5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INTELLIGENCE &amp; ANALYTICS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6060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Mallify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roof for engineering delivery — DORA metrics, investment visibility,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 health, and AI ROI, without a single keystroke of surveillance.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11887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Overview  ·  Product &amp; Architecture Briefing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Vishal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leaders are flying without instruments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data lives scattered across Git, Jira, CI/CD, and incident tools. Leaders stitch it together by hand — slow, inconsistent, and always a week stale. Meanwhile, AI coding assistants are now a real line item, and nobody can say what they return.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24328"/>
            <a:ext cx="566928" cy="566928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76606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832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reporting drag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04672" y="406908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EMs rebuild delivery reports by hand every sprint from spreadsheets and screenshots.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8144" y="233172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0752" y="2624328"/>
            <a:ext cx="566928" cy="566928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484" y="2766060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33832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automated DORA metrics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94176" y="406908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frequency, lead time, CFR, and MTTR depend on discipline nobody has time to maintain.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27648" y="233172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20256" y="2624328"/>
            <a:ext cx="566928" cy="566928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766060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33832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spend, unknown return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583680" y="406908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/ Cursor / Claude Code licenses are live, but ROI in dollars is a guess, not a number.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217152" y="2331720"/>
            <a:ext cx="2670048" cy="3246120"/>
          </a:xfrm>
          <a:prstGeom prst="roundRect">
            <a:avLst>
              <a:gd name="adj" fmla="val 239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09760" y="2624328"/>
            <a:ext cx="566928" cy="566928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492" y="2766060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73184" y="33832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backlash risk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473184" y="4069080"/>
            <a:ext cx="2157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'productivity monitoring' tools erode trust the moment individuals feel tracked.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deliberate middle ground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i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trustworthy, real-time view of software delivery performance and AI-tooling ROI — the automated, no-tagging DORA/SPACE analytics of minware, delivered through the leadership-friendly storytelling UX of Hivel.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deliberately avoid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337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Hivel's risk: individual surveillance features that erode trust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0208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3904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minware's risk: a mandatory query language that slows adoption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17136"/>
            <a:ext cx="146304" cy="1463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44714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Jira / GitHub / CI — Mallify is an analytics layer, never a system of record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537960" y="1371600"/>
            <a:ext cx="5074920" cy="4892040"/>
          </a:xfrm>
          <a:prstGeom prst="roundRect">
            <a:avLst>
              <a:gd name="adj" fmla="val 1308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812280" y="157276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map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040880" y="2057400"/>
            <a:ext cx="0" cy="3474720"/>
          </a:xfrm>
          <a:prstGeom prst="line">
            <a:avLst/>
          </a:prstGeom>
          <a:noFill/>
          <a:ln w="15875">
            <a:solidFill>
              <a:srgbClr val="AEB9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40880" y="5532120"/>
            <a:ext cx="4160520" cy="0"/>
          </a:xfrm>
          <a:prstGeom prst="line">
            <a:avLst/>
          </a:prstGeom>
          <a:noFill/>
          <a:ln w="15875">
            <a:solidFill>
              <a:srgbClr val="AEB9D6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040880" y="558698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 →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 rot="16200000">
            <a:off x="5623560" y="1965960"/>
            <a:ext cx="1371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UX  →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10351922" y="4458614"/>
            <a:ext cx="201168" cy="201168"/>
          </a:xfrm>
          <a:prstGeom prst="ellipse">
            <a:avLst/>
          </a:prstGeom>
          <a:solidFill>
            <a:srgbClr val="8892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675266" y="474207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minware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188452" y="2651760"/>
            <a:ext cx="201168" cy="201168"/>
          </a:xfrm>
          <a:prstGeom prst="ellipse">
            <a:avLst/>
          </a:prstGeom>
          <a:solidFill>
            <a:srgbClr val="8892B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435340" y="24963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Hivel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10130638" y="2666390"/>
            <a:ext cx="310896" cy="31089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966046" y="243779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layers, one continuous analytics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51914" cy="3977640"/>
          </a:xfrm>
          <a:prstGeom prst="roundRect">
            <a:avLst>
              <a:gd name="adj" fmla="val 3565"/>
            </a:avLst>
          </a:prstGeom>
          <a:solidFill>
            <a:srgbClr val="1F2E63"/>
          </a:solidFill>
          <a:ln w="12700">
            <a:solidFill>
              <a:srgbClr val="3141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3701" y="21488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861" y="22860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16506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1722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16861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GitHub/GitLab, Jira, CI/CD, SonarQube, PagerDuty, AI assistants — via read-only OAuth, queued and retried.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42" y="3781044"/>
            <a:ext cx="164592" cy="1645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01722" y="1874520"/>
            <a:ext cx="2051914" cy="3977640"/>
          </a:xfrm>
          <a:prstGeom prst="roundRect">
            <a:avLst>
              <a:gd name="adj" fmla="val 3565"/>
            </a:avLst>
          </a:prstGeom>
          <a:solidFill>
            <a:srgbClr val="1F2E63"/>
          </a:solidFill>
          <a:ln w="12700">
            <a:solidFill>
              <a:srgbClr val="31417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16782" y="21488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942" y="22860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69587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966314" y="2971800"/>
            <a:ext cx="1722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&amp; Normalization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2984602" y="3657600"/>
            <a:ext cx="16861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one human across tools; imports org → team → sub-team structure.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923" y="3781044"/>
            <a:ext cx="164592" cy="16459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54803" y="1874520"/>
            <a:ext cx="2051914" cy="3977640"/>
          </a:xfrm>
          <a:prstGeom prst="roundRect">
            <a:avLst>
              <a:gd name="adj" fmla="val 3565"/>
            </a:avLst>
          </a:prstGeom>
          <a:solidFill>
            <a:srgbClr val="1F2E63"/>
          </a:solidFill>
          <a:ln w="12700">
            <a:solidFill>
              <a:srgbClr val="31417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69864" y="21488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024" y="2286000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22669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219395" y="2971800"/>
            <a:ext cx="1722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/ Semantic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237683" y="3657600"/>
            <a:ext cx="16861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DORA, lead-time stages, CFR/MTTR, investment class — zero manual tagging.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05" y="3781044"/>
            <a:ext cx="164592" cy="16459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07885" y="1874520"/>
            <a:ext cx="2051914" cy="3977640"/>
          </a:xfrm>
          <a:prstGeom prst="roundRect">
            <a:avLst>
              <a:gd name="adj" fmla="val 3565"/>
            </a:avLst>
          </a:prstGeom>
          <a:solidFill>
            <a:srgbClr val="1F2E63"/>
          </a:solidFill>
          <a:ln w="12700">
            <a:solidFill>
              <a:srgbClr val="31417A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022946" y="21488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0106" y="2286000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97575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472477" y="2971800"/>
            <a:ext cx="1722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/ API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7490765" y="3657600"/>
            <a:ext cx="16861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AuthN/RBAC, dashboards API, goals, exports, audit log — the governed access layer.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8086" y="3781044"/>
            <a:ext cx="164592" cy="16459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60966" y="1874520"/>
            <a:ext cx="2051914" cy="3977640"/>
          </a:xfrm>
          <a:prstGeom prst="roundRect">
            <a:avLst>
              <a:gd name="adj" fmla="val 3565"/>
            </a:avLst>
          </a:prstGeom>
          <a:solidFill>
            <a:srgbClr val="1F2E63"/>
          </a:solidFill>
          <a:ln w="12700">
            <a:solidFill>
              <a:srgbClr val="31417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0276027" y="2148840"/>
            <a:ext cx="621792" cy="62179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3187" y="2286000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1122883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6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9725558" y="2971800"/>
            <a:ext cx="1722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450" dirty="0"/>
          </a:p>
        </p:txBody>
      </p:sp>
      <p:sp>
        <p:nvSpPr>
          <p:cNvPr id="37" name="Text 26"/>
          <p:cNvSpPr/>
          <p:nvPr/>
        </p:nvSpPr>
        <p:spPr>
          <a:xfrm>
            <a:off x="9743846" y="3657600"/>
            <a:ext cx="16861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dashboards: Cockpit, Team, Code Review, Investment, Personal, Admin.</a:t>
            </a:r>
            <a:endParaRPr lang="en-US" sz="1050" dirty="0"/>
          </a:p>
        </p:txBody>
      </p:sp>
      <p:sp>
        <p:nvSpPr>
          <p:cNvPr id="38" name="Text 27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metric freshness target: ≤ 15 minutes from source event to dashboard.</a:t>
            </a:r>
            <a:endParaRPr lang="en-US" sz="115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40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PRINCIPLES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rules we never break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commitments come directly from the signed business requirements and shape every design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370332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16736" y="2240280"/>
            <a:ext cx="585216" cy="585216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377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29900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surveillance, ever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37033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keystroke, idle-time, or screen tracking. Individual views are opt-in and framed around growth, not monitoring.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2928" y="1965960"/>
            <a:ext cx="2121408" cy="370332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21024" y="2240280"/>
            <a:ext cx="585216" cy="585216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237744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99232" y="29900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 tagging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017520" y="37033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— DORA, lead time, CFR, MTTR — is derived automatically. Engineers never change how they work.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57216" y="1965960"/>
            <a:ext cx="2121408" cy="370332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25312" y="2240280"/>
            <a:ext cx="585216" cy="585216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37744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03520" y="29900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layer only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321808" y="37033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never writes back to or replaces Jira, GitHub, or CI tools (one narrow Phase-3 exception: PR review comments).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461504" y="1965960"/>
            <a:ext cx="2121408" cy="370332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0" y="2240280"/>
            <a:ext cx="585216" cy="585216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377440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07808" y="29900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access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626096" y="37033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connector requests the minimum OAuth/API scope needed — nothing more.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765792" y="1965960"/>
            <a:ext cx="2121408" cy="370332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533888" y="2240280"/>
            <a:ext cx="585216" cy="585216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1048" y="2377440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12096" y="29900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auditability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930384" y="3703320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 change, access grant, and data export is written to a 12+ month audit log.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leaders see, screen by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28216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58568" y="1709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68096" y="22860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DORA &amp; Delivery Metrics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267919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frequency, lead time, change failure rate, MTTR — auto-computed, filterable by team/repo/sprint/date.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419856" y="15087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1728216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1847088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9784" y="1709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3639312" y="22860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Cockpit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39312" y="267919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Single-pane view with RAG status, org→team→IC drill-down, and presentation-ready export.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91072" y="15087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0528" y="1728216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4708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1000" y="1709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6510528" y="22860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&amp; RBAC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510528" y="267919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roles, scoped visibility, and a full audit trail governing every connector and export.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9162288" y="1508760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81744" y="1728216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1847088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72216" y="1709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9381744" y="22860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Profile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381744" y="2679192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vs. unplanned vs. rework classification from Git×Jira activity, with scope-creep trend alerts.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6758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68096" y="3895344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01421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258568" y="3877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768096" y="445312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Analytics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68096" y="48463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size distribution, review turnaround, and reviewer-load balance — never an individual leaderboard.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3419856" y="36758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39312" y="3895344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4014216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129784" y="3877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3639312" y="445312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&amp; OKRs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3639312" y="48463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bound to live metrics, auto-tracked on-track / at-risk / off-track.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6291072" y="36758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510528" y="3895344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014216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001000" y="3877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44" name="Text 35"/>
          <p:cNvSpPr/>
          <p:nvPr/>
        </p:nvSpPr>
        <p:spPr>
          <a:xfrm>
            <a:off x="6510528" y="445312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Adoption &amp; ROI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6510528" y="48463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vs. non-AI delta on cycle time and defects, resolving to a dollar ROI figure.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9162288" y="3675888"/>
            <a:ext cx="2670048" cy="1965960"/>
          </a:xfrm>
          <a:prstGeom prst="roundRect">
            <a:avLst>
              <a:gd name="adj" fmla="val 3256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381744" y="3895344"/>
            <a:ext cx="457200" cy="457200"/>
          </a:xfrm>
          <a:prstGeom prst="ellipse">
            <a:avLst/>
          </a:prstGeom>
          <a:solidFill>
            <a:srgbClr val="16214A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0616" y="4014216"/>
            <a:ext cx="219456" cy="219456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0872216" y="3877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50" name="Text 40"/>
          <p:cNvSpPr/>
          <p:nvPr/>
        </p:nvSpPr>
        <p:spPr>
          <a:xfrm>
            <a:off x="9381744" y="445312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Reporting</a:t>
            </a:r>
            <a:endParaRPr lang="en-US" sz="1250" dirty="0"/>
          </a:p>
        </p:txBody>
      </p:sp>
      <p:sp>
        <p:nvSpPr>
          <p:cNvPr id="51" name="Text 41"/>
          <p:cNvSpPr/>
          <p:nvPr/>
        </p:nvSpPr>
        <p:spPr>
          <a:xfrm>
            <a:off x="9381744" y="4846320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report library plus a guided custom-metric builder — no query language required.</a:t>
            </a:r>
            <a:endParaRPr lang="en-US" sz="950" dirty="0"/>
          </a:p>
        </p:txBody>
      </p:sp>
      <p:sp>
        <p:nvSpPr>
          <p:cNvPr id="52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53" name="Text 4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stakeholder gets the view they need — nothing more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892040"/>
                <a:gridCol w="2651760"/>
                <a:gridCol w="1188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job-to-be-done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surface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CTO / VP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delivery speed, quality &amp; AI ROI to the board with confidence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Cockpit, AI ROI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Org-wide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bottlenecks, balance workload, prep 1:1s from real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Dashboard, Investment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Lead / Senior Eng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review load healthy and quality trends positive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Review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Contributor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own trends transparently and non-punitively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Activity (opt-in)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Program Mgr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delivery, see scope creep 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Profile, Cycle-Time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/ Procurement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cost-benefit of AI tooling and Mallify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ROI Financial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Read-only, aggregated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21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 access, audit data use, enforce privacy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Access Console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resilient, queue-isolated event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GitHub/GitLab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5087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5087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15087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92640" y="15087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9264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075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 APIs &amp; webhooks (read-only)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2377440"/>
            <a:ext cx="0" cy="320040"/>
          </a:xfrm>
          <a:prstGeom prst="line">
            <a:avLst/>
          </a:prstGeom>
          <a:noFill/>
          <a:ln w="19050">
            <a:solidFill>
              <a:srgbClr val="5A6A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715768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715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  —  buffering, retry, dead-letter queue  —  isolates every vendor failure from the 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3218688"/>
            <a:ext cx="0" cy="274320"/>
          </a:xfrm>
          <a:prstGeom prst="line">
            <a:avLst/>
          </a:prstGeom>
          <a:noFill/>
          <a:ln w="19050">
            <a:solidFill>
              <a:srgbClr val="5A6A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93008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48456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000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Writer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143000" y="3822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staging writes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80760" y="3493008"/>
            <a:ext cx="5349240" cy="621792"/>
          </a:xfrm>
          <a:prstGeom prst="roundRect">
            <a:avLst>
              <a:gd name="adj" fmla="val 11765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648456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75120" y="3547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Service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6675120" y="3822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&amp; team resolution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989320" y="4114800"/>
            <a:ext cx="0" cy="219456"/>
          </a:xfrm>
          <a:prstGeom prst="line">
            <a:avLst/>
          </a:prstGeom>
          <a:noFill/>
          <a:ln w="19050">
            <a:solidFill>
              <a:srgbClr val="5A6AA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8640" y="4334256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3232" y="43891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Store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713232" y="463600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raw events (Postgres)</a:t>
            </a:r>
            <a:endParaRPr lang="en-US" sz="870" dirty="0"/>
          </a:p>
        </p:txBody>
      </p:sp>
      <p:sp>
        <p:nvSpPr>
          <p:cNvPr id="33" name="Shape 29"/>
          <p:cNvSpPr/>
          <p:nvPr/>
        </p:nvSpPr>
        <p:spPr>
          <a:xfrm>
            <a:off x="4233672" y="4334256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398264" y="43891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DB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4398264" y="463600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entities, RBAC, audit</a:t>
            </a:r>
            <a:endParaRPr lang="en-US" sz="870" dirty="0"/>
          </a:p>
        </p:txBody>
      </p:sp>
      <p:sp>
        <p:nvSpPr>
          <p:cNvPr id="36" name="Shape 32"/>
          <p:cNvSpPr/>
          <p:nvPr/>
        </p:nvSpPr>
        <p:spPr>
          <a:xfrm>
            <a:off x="7918704" y="4334256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24346E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083296" y="43891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Engine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8083296" y="463600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DORA, CFR/MTTR, PR analytics</a:t>
            </a:r>
            <a:endParaRPr lang="en-US" sz="870" dirty="0"/>
          </a:p>
        </p:txBody>
      </p:sp>
      <p:sp>
        <p:nvSpPr>
          <p:cNvPr id="39" name="Shape 35"/>
          <p:cNvSpPr/>
          <p:nvPr/>
        </p:nvSpPr>
        <p:spPr>
          <a:xfrm>
            <a:off x="5989320" y="4901184"/>
            <a:ext cx="0" cy="219456"/>
          </a:xfrm>
          <a:prstGeom prst="line">
            <a:avLst/>
          </a:prstGeom>
          <a:noFill/>
          <a:ln w="19050">
            <a:solidFill>
              <a:srgbClr val="5A6AA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48640" y="51206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48640" y="51206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CORE  —  OIDC/JWT auth · RBAC · dashboards API · goals · exports · audit log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989320" y="5623560"/>
            <a:ext cx="0" cy="219456"/>
          </a:xfrm>
          <a:prstGeom prst="line">
            <a:avLst/>
          </a:prstGeom>
          <a:noFill/>
          <a:ln w="19050">
            <a:solidFill>
              <a:srgbClr val="5A6AA0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3291840" y="5843016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44" name="Text 40"/>
          <p:cNvSpPr/>
          <p:nvPr/>
        </p:nvSpPr>
        <p:spPr>
          <a:xfrm>
            <a:off x="3291840" y="58430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 —  React + TypeScript — role-based dashboards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Proven, boring, and built to scale without re-architecture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68096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Tailwind + Recharts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60020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8848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98848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Spring Boot 3 (Web, Data JPA, Security)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10144" y="160020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0" y="2103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— staging / core / mart schemas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(MVP) — retry &amp; DLQ semantics out of the 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79392" y="315468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98848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8848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+ JWT (RS256) via Spring Security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0144" y="315468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— forward-only, expand/contract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→ containerized cloud (K8s at scale)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79392" y="470916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8848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98848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logs, OpenTelemetry, Prometheus + Grafana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10144" y="4709160"/>
            <a:ext cx="3547872" cy="1371600"/>
          </a:xfrm>
          <a:prstGeom prst="roundRect">
            <a:avLst>
              <a:gd name="adj" fmla="val 466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0" y="4892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(PHASE 3)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52120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via agent framework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2819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Postgres instance with schema separation (ADR-0002) preserves a clean migration path to a dedicated analytical store (e.g. ClickHouse) as volume demands — without a rewrite.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phases, each with a hard exit criterion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9344" y="1399032"/>
            <a:ext cx="9217152" cy="0"/>
          </a:xfrm>
          <a:prstGeom prst="line">
            <a:avLst/>
          </a:prstGeom>
          <a:noFill/>
          <a:ln w="25400">
            <a:solidFill>
              <a:srgbClr val="DD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8176" y="1197864"/>
            <a:ext cx="402336" cy="402336"/>
          </a:xfrm>
          <a:prstGeom prst="ellipse">
            <a:avLst/>
          </a:prstGeom>
          <a:solidFill>
            <a:srgbClr val="2E9E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8176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121408" cy="402336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74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13232" y="22219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26060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approval, PRD, C4 model, pilot team selection.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53309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12464" y="1197864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52928" y="1691640"/>
            <a:ext cx="2121408" cy="402336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1874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17520" y="22219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wks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0" y="26060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Jira + CI/CD; DORA dashboard; Cockpit; RBAC.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17520" y="53309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16752" y="1197864"/>
            <a:ext cx="402336" cy="402336"/>
          </a:xfrm>
          <a:prstGeom prst="ellipse">
            <a:avLst/>
          </a:prstGeom>
          <a:solidFill>
            <a:srgbClr val="9AA5B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57216" y="1691640"/>
            <a:ext cx="2121408" cy="402336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21808" y="1874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21808" y="22219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21808" y="26060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Profile, PR analytics, Goals/OKR, SonarQube.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53309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9A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321040" y="1197864"/>
            <a:ext cx="402336" cy="402336"/>
          </a:xfrm>
          <a:prstGeom prst="ellipse">
            <a:avLst/>
          </a:prstGeom>
          <a:solidFill>
            <a:srgbClr val="9AA5B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61504" y="1691640"/>
            <a:ext cx="2121408" cy="402336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26096" y="1874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Advanced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626096" y="22219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26096" y="26060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ROI module, AI review agent, custom reporting, VPC option.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26096" y="53309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9A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625328" y="1197864"/>
            <a:ext cx="402336" cy="402336"/>
          </a:xfrm>
          <a:prstGeom prst="ellipse">
            <a:avLst/>
          </a:prstGeom>
          <a:solidFill>
            <a:srgbClr val="9AA5B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25328" y="1197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765792" y="1691640"/>
            <a:ext cx="2121408" cy="4023360"/>
          </a:xfrm>
          <a:prstGeom prst="roundRect">
            <a:avLst>
              <a:gd name="adj" fmla="val 3017"/>
            </a:avLst>
          </a:prstGeom>
          <a:solidFill>
            <a:srgbClr val="EEF2FA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14300" dist="38100" dir="5400000">
              <a:srgbClr val="1B2E63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930384" y="187452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930384" y="222199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930384" y="260604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SaaS, SOC 2 Type II, external clients.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930384" y="533095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9AA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(MVP) build status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and verified end-to-end against real GitHub and Jira data. Remaining Phase 1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is UI surfacing and policy hardening, not core computation.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595360" y="1426464"/>
            <a:ext cx="146304" cy="14630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6" name="Text 4"/>
          <p:cNvSpPr/>
          <p:nvPr/>
        </p:nvSpPr>
        <p:spPr>
          <a:xfrm>
            <a:off x="8796528" y="1371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601200" y="142646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802368" y="1371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607040" y="1426464"/>
            <a:ext cx="146304" cy="146304"/>
          </a:xfrm>
          <a:prstGeom prst="ellipse">
            <a:avLst/>
          </a:prstGeom>
          <a:solidFill>
            <a:srgbClr val="9AA5BE"/>
          </a:solidFill>
          <a:ln/>
        </p:spPr>
      </p:sp>
      <p:sp>
        <p:nvSpPr>
          <p:cNvPr id="10" name="Text 8"/>
          <p:cNvSpPr/>
          <p:nvPr/>
        </p:nvSpPr>
        <p:spPr>
          <a:xfrm>
            <a:off x="10808208" y="13716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211455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1965960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Jira connectors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965960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Signature-verified webhooks, backfill, issue changelogs live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409444"/>
            <a:ext cx="11064240" cy="443484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55803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2409444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ingestion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409444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retry + DLQ + idempotent writes live and smoke-verified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00151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2852928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reconciliation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2852928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Alias/email-merge resolution + bot detection live; admin merge UI pending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296412"/>
            <a:ext cx="11064240" cy="443484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3445002"/>
            <a:ext cx="146304" cy="14630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3296412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DORA metrics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3296412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frequency, lead time, CFR, MTTR — live at repo/org/team scope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8368" y="3888486"/>
            <a:ext cx="146304" cy="146304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3739896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Cockpit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739896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tiles from live API, freshness indicator, inline definitions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83380"/>
            <a:ext cx="11064240" cy="443484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" y="433197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932688" y="4183380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→ team drill-down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4183380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Team-scoped Cockpit views live; IC-level drill-down pending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" y="477545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4626864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(5 roles)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4626864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JWT auth; per-user visibility rules pending OIDC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070348"/>
            <a:ext cx="11064240" cy="443484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" y="521893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7" name="Text 35"/>
          <p:cNvSpPr/>
          <p:nvPr/>
        </p:nvSpPr>
        <p:spPr>
          <a:xfrm>
            <a:off x="932688" y="5070348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5070348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live for token issuance; config/export events wiring 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5662422"/>
            <a:ext cx="146304" cy="146304"/>
          </a:xfrm>
          <a:prstGeom prst="ellipse">
            <a:avLst/>
          </a:prstGeom>
          <a:solidFill>
            <a:srgbClr val="9AA5BE"/>
          </a:solidFill>
          <a:ln/>
        </p:spPr>
      </p:sp>
      <p:sp>
        <p:nvSpPr>
          <p:cNvPr id="40" name="Text 38"/>
          <p:cNvSpPr/>
          <p:nvPr/>
        </p:nvSpPr>
        <p:spPr>
          <a:xfrm>
            <a:off x="932688" y="5513832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Profile, PR analytics, Goals, AI ROI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5513832"/>
            <a:ext cx="740664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/ Phase 3 — not yet started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Mallify is working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30 min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9808" y="27432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Time-to-first-insight after connecting tools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93008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57016" y="27432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reporting effort saved for EMs, within 2 quarters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4224" y="27432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teams active within 90 days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6916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07424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B8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4/5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71432" y="2743200"/>
            <a:ext cx="2203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Data-trust score among engineering leads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279392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17320" y="393192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demonstrable dollar AI ROI figure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 least one coding assistant, delivered in the first Phase-3 release.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48640" y="5166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metric: weekly leaders taking a tracked action on Mallify insight — drill-down, export, goal edit, or PR-flag follow-up.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 |  ENGINEERING INTELLIGENCE &amp; ANALYTICS PLATFORM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1F2E63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1F2E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 team to first insight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2918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pilot scope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37490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2–3 pilot teams and the Git / Jira / CI‐CD tools to connect first.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233172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backfill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7490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OAuth connection; historical backfill starts automatically.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2331720"/>
            <a:ext cx="3502152" cy="2377440"/>
          </a:xfrm>
          <a:prstGeom prst="roundRect">
            <a:avLst>
              <a:gd name="adj" fmla="val 3077"/>
            </a:avLst>
          </a:prstGeom>
          <a:solidFill>
            <a:srgbClr val="1F2E63"/>
          </a:solidFill>
          <a:ln w="12700">
            <a:solidFill>
              <a:srgbClr val="3A4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2606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94192" y="329184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first Cockpit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94192" y="3749040"/>
            <a:ext cx="2916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7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DORA Cockpit and exportable report — target: under 30 minutes.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166360"/>
            <a:ext cx="11887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 ·  vishumaa10@gmail.com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Mallify — Engineering Intelligence &amp; Analytics Platform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Mallify — Engineering Intelligence &amp; Analytics Platform</dc:title>
  <dc:subject>PptxGenJS Presentation</dc:subject>
  <dc:creator>Vishal</dc:creator>
  <cp:lastModifiedBy>Vishal</cp:lastModifiedBy>
  <cp:revision>1</cp:revision>
  <dcterms:created xsi:type="dcterms:W3CDTF">2026-07-05T20:17:13Z</dcterms:created>
  <dcterms:modified xsi:type="dcterms:W3CDTF">2026-07-05T20:17:13Z</dcterms:modified>
</cp:coreProperties>
</file>